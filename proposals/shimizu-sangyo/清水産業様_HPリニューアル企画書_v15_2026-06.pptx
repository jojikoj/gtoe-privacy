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B8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SHIMIZU SANGYO ｜ CORPORATE SITE RENEWAL PROPOSAL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109167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止まったら、清水。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48640" y="3291840"/>
            <a:ext cx="110916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売る・直す・据える・つくる。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4つの柱で、機械の困りごとを一社で止める“かかりつけ”へ。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4663440"/>
            <a:ext cx="4114800" cy="0"/>
          </a:xfrm>
          <a:prstGeom prst="line">
            <a:avLst/>
          </a:prstGeom>
          <a:noFill/>
          <a:ln w="25400">
            <a:solidFill>
              <a:srgbClr val="F5B8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98348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清水産業株式会社 御中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553212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C9D6E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ホームページ リニューアル ご提案書 ／ 2026年6月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C9D6E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株式会社TOE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0F2A5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060E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 ｜ 現状サイト診断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いまのサイトの「4つのもったいない」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実力は十分。でも、その良さがWebで伝わっていません。直せば伸びる“伸びしろ”です。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株式会社TOE ｜ 清水産業株式会社 様 ご提案 ｜ 2026年6月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2567178" cy="3566160"/>
          </a:xfrm>
          <a:prstGeom prst="roundRect">
            <a:avLst>
              <a:gd name="adj" fmla="val 2137"/>
            </a:avLst>
          </a:prstGeom>
          <a:solidFill>
            <a:srgbClr val="EEF3FA"/>
          </a:solidFill>
          <a:ln w="9525">
            <a:solidFill>
              <a:srgbClr val="D7E2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828800"/>
            <a:ext cx="223799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60E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13232" y="2286000"/>
            <a:ext cx="223799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スマホで見づらい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13232" y="3017520"/>
            <a:ext cx="223799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閲覧の約8割はスマホ。今のサイトはPC向けで、文字が小さく拡大しないと読めません。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13232" y="4617720"/>
            <a:ext cx="223799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見づらさで、多くが離脱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390138" y="1691640"/>
            <a:ext cx="2567178" cy="3566160"/>
          </a:xfrm>
          <a:prstGeom prst="roundRect">
            <a:avLst>
              <a:gd name="adj" fmla="val 2137"/>
            </a:avLst>
          </a:prstGeom>
          <a:solidFill>
            <a:srgbClr val="EEF3FA"/>
          </a:solidFill>
          <a:ln w="9525">
            <a:solidFill>
              <a:srgbClr val="D7E2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54730" y="1828800"/>
            <a:ext cx="223799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60E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554730" y="2286000"/>
            <a:ext cx="223799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何の会社か伝わらない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54730" y="3017520"/>
            <a:ext cx="223799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商社・メンテ・配管・設計製造。4つの強みが「販売／修理」の2区分に埋もれています。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554730" y="4617720"/>
            <a:ext cx="223799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強みが、選ばれていない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31636" y="1691640"/>
            <a:ext cx="2567178" cy="3566160"/>
          </a:xfrm>
          <a:prstGeom prst="roundRect">
            <a:avLst>
              <a:gd name="adj" fmla="val 2137"/>
            </a:avLst>
          </a:prstGeom>
          <a:solidFill>
            <a:srgbClr val="EEF3FA"/>
          </a:solidFill>
          <a:ln w="9525">
            <a:solidFill>
              <a:srgbClr val="D7E2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96228" y="1828800"/>
            <a:ext cx="223799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60E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396228" y="2286000"/>
            <a:ext cx="223799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問い合わせされにくい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96228" y="3017520"/>
            <a:ext cx="223799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連絡手段が電話中心。夜間・休日や、メンテ・OEMの引き合いを取りこぼしています。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396228" y="4617720"/>
            <a:ext cx="223799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夜間・休日を取り逃す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073134" y="1691640"/>
            <a:ext cx="2567178" cy="3566160"/>
          </a:xfrm>
          <a:prstGeom prst="roundRect">
            <a:avLst>
              <a:gd name="adj" fmla="val 2137"/>
            </a:avLst>
          </a:prstGeom>
          <a:solidFill>
            <a:srgbClr val="EEF3FA"/>
          </a:solidFill>
          <a:ln w="9525">
            <a:solidFill>
              <a:srgbClr val="D7E2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37726" y="1828800"/>
            <a:ext cx="223799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60E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237726" y="2286000"/>
            <a:ext cx="223799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「保護されていない通信」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237726" y="3017520"/>
            <a:ext cx="223799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常時SSL非対応で、ブラウザに警告が表示。信用にも検索順位（SEO）にも実害があります。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237726" y="4617720"/>
            <a:ext cx="223799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初見の信用を失う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5532120"/>
            <a:ext cx="11091672" cy="685800"/>
          </a:xfrm>
          <a:prstGeom prst="roundRect">
            <a:avLst>
              <a:gd name="adj" fmla="val 8000"/>
            </a:avLst>
          </a:prstGeom>
          <a:solidFill>
            <a:srgbClr val="0F2A52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5532120"/>
            <a:ext cx="106344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制作から8年。事業の中身は進化したのに、サイトだけが止まっています。── どれも、作り直せば解決します。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0F2A5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060E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 ｜ リニューアルの効果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リニューアルで、こう変わります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「見づらい・伝わらない・問い合わせが来ない」を、ぜんぶ逆にします。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株式会社TOE ｜ 清水産業株式会社 様 ご提案 ｜ 2026年6月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5029200" cy="658368"/>
          </a:xfrm>
          <a:prstGeom prst="roundRect">
            <a:avLst>
              <a:gd name="adj" fmla="val 8333"/>
            </a:avLst>
          </a:prstGeom>
          <a:solidFill>
            <a:srgbClr val="F6F7F9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737360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スマホだと崩れて読みにくい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23560" y="1737360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B8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26480" y="1737360"/>
            <a:ext cx="5513832" cy="658368"/>
          </a:xfrm>
          <a:prstGeom prst="roundRect">
            <a:avLst>
              <a:gd name="adj" fmla="val 8333"/>
            </a:avLst>
          </a:prstGeom>
          <a:solidFill>
            <a:srgbClr val="EEF3FA"/>
          </a:solidFill>
          <a:ln w="9525">
            <a:solidFill>
              <a:srgbClr val="C9D9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737360"/>
            <a:ext cx="51480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どの端末でもキレイに表示。現場や外出先でも快適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505456"/>
            <a:ext cx="5029200" cy="658368"/>
          </a:xfrm>
          <a:prstGeom prst="roundRect">
            <a:avLst>
              <a:gd name="adj" fmla="val 8333"/>
            </a:avLst>
          </a:prstGeom>
          <a:solidFill>
            <a:srgbClr val="F6F7F9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505456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4つの事業がバラバラで分かりにくい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623560" y="2505456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B8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26480" y="2505456"/>
            <a:ext cx="5513832" cy="658368"/>
          </a:xfrm>
          <a:prstGeom prst="roundRect">
            <a:avLst>
              <a:gd name="adj" fmla="val 8333"/>
            </a:avLst>
          </a:prstGeom>
          <a:solidFill>
            <a:srgbClr val="EEF3FA"/>
          </a:solidFill>
          <a:ln w="9525">
            <a:solidFill>
              <a:srgbClr val="C9D9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2505456"/>
            <a:ext cx="51480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「売る・直す・据える・つくる」の総合力が3秒で伝わる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273552"/>
            <a:ext cx="5029200" cy="658368"/>
          </a:xfrm>
          <a:prstGeom prst="roundRect">
            <a:avLst>
              <a:gd name="adj" fmla="val 8333"/>
            </a:avLst>
          </a:prstGeom>
          <a:solidFill>
            <a:srgbClr val="F6F7F9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273552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メンテの情報がほぼ無い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623560" y="3273552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B8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126480" y="3273552"/>
            <a:ext cx="5513832" cy="658368"/>
          </a:xfrm>
          <a:prstGeom prst="roundRect">
            <a:avLst>
              <a:gd name="adj" fmla="val 8333"/>
            </a:avLst>
          </a:prstGeom>
          <a:solidFill>
            <a:srgbClr val="EEF3FA"/>
          </a:solidFill>
          <a:ln w="9525">
            <a:solidFill>
              <a:srgbClr val="C9D9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3273552"/>
            <a:ext cx="51480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整備事例・修理済在庫を前面に。「直せる会社」と一目で伝わる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041648"/>
            <a:ext cx="5029200" cy="658368"/>
          </a:xfrm>
          <a:prstGeom prst="roundRect">
            <a:avLst>
              <a:gd name="adj" fmla="val 8333"/>
            </a:avLst>
          </a:prstGeom>
          <a:solidFill>
            <a:srgbClr val="F6F7F9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041648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問い合わせは電話番号だけ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623560" y="4041648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B8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126480" y="4041648"/>
            <a:ext cx="5513832" cy="658368"/>
          </a:xfrm>
          <a:prstGeom prst="roundRect">
            <a:avLst>
              <a:gd name="adj" fmla="val 8333"/>
            </a:avLst>
          </a:prstGeom>
          <a:solidFill>
            <a:srgbClr val="EEF3FA"/>
          </a:solidFill>
          <a:ln w="9525">
            <a:solidFill>
              <a:srgbClr val="C9D9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4041648"/>
            <a:ext cx="51480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症状から相談できるフォーム＋AIの24時間受付で取りこぼさない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4809744"/>
            <a:ext cx="5029200" cy="658368"/>
          </a:xfrm>
          <a:prstGeom prst="roundRect">
            <a:avLst>
              <a:gd name="adj" fmla="val 8333"/>
            </a:avLst>
          </a:prstGeom>
          <a:solidFill>
            <a:srgbClr val="F6F7F9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4809744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日本語のみで海外を取り逃す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623560" y="4809744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B8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126480" y="4809744"/>
            <a:ext cx="5513832" cy="658368"/>
          </a:xfrm>
          <a:prstGeom prst="roundRect">
            <a:avLst>
              <a:gd name="adj" fmla="val 8333"/>
            </a:avLst>
          </a:prstGeom>
          <a:solidFill>
            <a:srgbClr val="EEF3FA"/>
          </a:solidFill>
          <a:ln w="9525">
            <a:solidFill>
              <a:srgbClr val="C9D9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4809744"/>
            <a:ext cx="51480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英語・繁体字（台湾）をサイト内できちんと表示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48640" y="5577840"/>
            <a:ext cx="5029200" cy="658368"/>
          </a:xfrm>
          <a:prstGeom prst="roundRect">
            <a:avLst>
              <a:gd name="adj" fmla="val 8333"/>
            </a:avLst>
          </a:prstGeom>
          <a:solidFill>
            <a:srgbClr val="F6F7F9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5577840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更新のたびに業者へ依頼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623560" y="5577840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B8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126480" y="5577840"/>
            <a:ext cx="5513832" cy="658368"/>
          </a:xfrm>
          <a:prstGeom prst="roundRect">
            <a:avLst>
              <a:gd name="adj" fmla="val 8333"/>
            </a:avLst>
          </a:prstGeom>
          <a:solidFill>
            <a:srgbClr val="EEF3FA"/>
          </a:solidFill>
          <a:ln w="9525">
            <a:solidFill>
              <a:srgbClr val="C9D9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09360" y="5577840"/>
            <a:ext cx="51480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お知らせや実績を自分たちで即日更新できる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0F2A5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060E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 ｜ ご提案のコンセプト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機械の“かかりつけ”、清水産業。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バラバラに見えていた事業を、ひとつのメッセージにまとめます。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株式会社TOE ｜ 清水産業株式会社 様 ご提案 ｜ 2026年6月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3291840" cy="3291840"/>
          </a:xfrm>
          <a:prstGeom prst="roundRect">
            <a:avLst>
              <a:gd name="adj" fmla="val 2222"/>
            </a:avLst>
          </a:prstGeom>
          <a:solidFill>
            <a:srgbClr val="0F2A5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965960"/>
            <a:ext cx="2926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機械の</a:t>
            </a:r>
            <a:endParaRPr lang="en-US" sz="22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困りごとは、</a:t>
            </a:r>
            <a:endParaRPr lang="en-US" sz="22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ぜんぶ清水で</a:t>
            </a:r>
            <a:endParaRPr lang="en-US" sz="22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止める。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114800" y="1783080"/>
            <a:ext cx="3648456" cy="1536192"/>
          </a:xfrm>
          <a:prstGeom prst="roundRect">
            <a:avLst>
              <a:gd name="adj" fmla="val 3571"/>
            </a:avLst>
          </a:prstGeom>
          <a:solidFill>
            <a:srgbClr val="EEF3FA"/>
          </a:solidFill>
          <a:ln w="9525">
            <a:solidFill>
              <a:srgbClr val="D7E2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1892808"/>
            <a:ext cx="3282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60E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売る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97680" y="2258568"/>
            <a:ext cx="32826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総合機械商社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97680" y="2587752"/>
            <a:ext cx="32826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500社超のメーカーから機械・部品を調達。「これ扱ってる？」に即答。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91856" y="1783080"/>
            <a:ext cx="3648456" cy="1536192"/>
          </a:xfrm>
          <a:prstGeom prst="roundRect">
            <a:avLst>
              <a:gd name="adj" fmla="val 3571"/>
            </a:avLst>
          </a:prstGeom>
          <a:solidFill>
            <a:srgbClr val="EEF3FA"/>
          </a:solidFill>
          <a:ln w="9525">
            <a:solidFill>
              <a:srgbClr val="D7E2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74736" y="1892808"/>
            <a:ext cx="3282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60E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直す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74736" y="2258568"/>
            <a:ext cx="32826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メンテナンス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74736" y="2587752"/>
            <a:ext cx="32826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モーター・コンプレッサー等の整備・オーバーホール。今回の打ち出しの主役。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0" y="3538728"/>
            <a:ext cx="3648456" cy="1536192"/>
          </a:xfrm>
          <a:prstGeom prst="roundRect">
            <a:avLst>
              <a:gd name="adj" fmla="val 3571"/>
            </a:avLst>
          </a:prstGeom>
          <a:solidFill>
            <a:srgbClr val="EEF3FA"/>
          </a:solidFill>
          <a:ln w="9525">
            <a:solidFill>
              <a:srgbClr val="D7E2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0" y="3648456"/>
            <a:ext cx="3282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60E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据える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297680" y="4014216"/>
            <a:ext cx="32826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配管・据付工事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297680" y="4343400"/>
            <a:ext cx="32826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プラント配管から機械の据付・試運転まで、現場を一貫対応。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991856" y="3538728"/>
            <a:ext cx="3648456" cy="1536192"/>
          </a:xfrm>
          <a:prstGeom prst="roundRect">
            <a:avLst>
              <a:gd name="adj" fmla="val 3571"/>
            </a:avLst>
          </a:prstGeom>
          <a:solidFill>
            <a:srgbClr val="EEF3FA"/>
          </a:solidFill>
          <a:ln w="9525">
            <a:solidFill>
              <a:srgbClr val="D7E2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74736" y="3648456"/>
            <a:ext cx="3282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60E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つくる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174736" y="4014216"/>
            <a:ext cx="32826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機械設計・製造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174736" y="4343400"/>
            <a:ext cx="32826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図面設計からOEM製造まで。「無ければ、つくる」で応える。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6316"/>
            </a:avLst>
          </a:prstGeom>
          <a:solidFill>
            <a:srgbClr val="FFF7E0"/>
          </a:solidFill>
          <a:ln w="12700">
            <a:solidFill>
              <a:srgbClr val="F5B8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5349240"/>
            <a:ext cx="106344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ポイント：現サイトにほぼ無い「メンテナンス」を最重要コンテンツに格上げ。整備事例と修理済在庫で、“直せる・止めない会社”を前面に打ち出します。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0F2A5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060E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 ｜ サイト全体構成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トップで「総合力」、4本柱へ迷わず案内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リクルートページは既存の採用サイトへリンクし、二重管理を防ぎます。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株式会社TOE ｜ 清水産業株式会社 様 ご提案 ｜ 2026年6月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34640" y="1691640"/>
            <a:ext cx="6519672" cy="640080"/>
          </a:xfrm>
          <a:prstGeom prst="roundRect">
            <a:avLst>
              <a:gd name="adj" fmla="val 8571"/>
            </a:avLst>
          </a:prstGeom>
          <a:solidFill>
            <a:srgbClr val="0F2A52"/>
          </a:solidFill>
          <a:ln/>
        </p:spPr>
      </p:sp>
      <p:sp>
        <p:nvSpPr>
          <p:cNvPr id="9" name="Text 7"/>
          <p:cNvSpPr/>
          <p:nvPr/>
        </p:nvSpPr>
        <p:spPr>
          <a:xfrm>
            <a:off x="2834640" y="1691640"/>
            <a:ext cx="6519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トップページ（4本柱の入口 ＋ 24時間受付 ＋ 実績）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832229" y="2331720"/>
            <a:ext cx="0" cy="27432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606040"/>
            <a:ext cx="2567178" cy="1600200"/>
          </a:xfrm>
          <a:prstGeom prst="roundRect">
            <a:avLst>
              <a:gd name="adj" fmla="val 3429"/>
            </a:avLst>
          </a:prstGeom>
          <a:solidFill>
            <a:srgbClr val="EEF3FA"/>
          </a:solidFill>
          <a:ln w="9525">
            <a:solidFill>
              <a:srgbClr val="C9D9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724912"/>
            <a:ext cx="22928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機械の販売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85800" y="3108960"/>
            <a:ext cx="229285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総合商社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500社超のメーカー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機械・部品の調達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73727" y="2331720"/>
            <a:ext cx="0" cy="27432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90138" y="2606040"/>
            <a:ext cx="2567178" cy="1600200"/>
          </a:xfrm>
          <a:prstGeom prst="roundRect">
            <a:avLst>
              <a:gd name="adj" fmla="val 3429"/>
            </a:avLst>
          </a:prstGeom>
          <a:solidFill>
            <a:srgbClr val="EEF3FA"/>
          </a:solidFill>
          <a:ln w="9525">
            <a:solidFill>
              <a:srgbClr val="C9D9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27298" y="2724912"/>
            <a:ext cx="22928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修理・メンテ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3527298" y="3108960"/>
            <a:ext cx="229285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オーバーホール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整備事例の公開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修理済在庫＝即納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515225" y="2331720"/>
            <a:ext cx="0" cy="27432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31636" y="2606040"/>
            <a:ext cx="2567178" cy="1600200"/>
          </a:xfrm>
          <a:prstGeom prst="roundRect">
            <a:avLst>
              <a:gd name="adj" fmla="val 3429"/>
            </a:avLst>
          </a:prstGeom>
          <a:solidFill>
            <a:srgbClr val="EEF3FA"/>
          </a:solidFill>
          <a:ln w="9525">
            <a:solidFill>
              <a:srgbClr val="C9D9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68796" y="2724912"/>
            <a:ext cx="22928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配管・据付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368796" y="3108960"/>
            <a:ext cx="229285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プラント配管工事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機械の設置・施工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試運転まで一貫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356723" y="2331720"/>
            <a:ext cx="0" cy="27432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73134" y="2606040"/>
            <a:ext cx="2567178" cy="1600200"/>
          </a:xfrm>
          <a:prstGeom prst="roundRect">
            <a:avLst>
              <a:gd name="adj" fmla="val 3429"/>
            </a:avLst>
          </a:prstGeom>
          <a:solidFill>
            <a:srgbClr val="EEF3FA"/>
          </a:solidFill>
          <a:ln w="9525">
            <a:solidFill>
              <a:srgbClr val="C9D9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10294" y="2724912"/>
            <a:ext cx="22928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設計・製造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9210294" y="3108960"/>
            <a:ext cx="229285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図面設計・OEM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自社オリジナル機械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「無ければつくる」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443484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そのほかのページ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4800600"/>
            <a:ext cx="1658112" cy="777240"/>
          </a:xfrm>
          <a:prstGeom prst="roundRect">
            <a:avLst>
              <a:gd name="adj" fmla="val 7059"/>
            </a:avLst>
          </a:prstGeom>
          <a:solidFill>
            <a:srgbClr val="F6F7F9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" y="4800600"/>
            <a:ext cx="15118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会社案内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435352" y="4800600"/>
            <a:ext cx="1658112" cy="777240"/>
          </a:xfrm>
          <a:prstGeom prst="roundRect">
            <a:avLst>
              <a:gd name="adj" fmla="val 7059"/>
            </a:avLst>
          </a:prstGeom>
          <a:solidFill>
            <a:srgbClr val="F6F7F9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08504" y="4800600"/>
            <a:ext cx="15118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実績・事例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322064" y="4800600"/>
            <a:ext cx="1658112" cy="777240"/>
          </a:xfrm>
          <a:prstGeom prst="roundRect">
            <a:avLst>
              <a:gd name="adj" fmla="val 7059"/>
            </a:avLst>
          </a:prstGeom>
          <a:solidFill>
            <a:srgbClr val="F6F7F9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95216" y="4800600"/>
            <a:ext cx="15118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取扱メーカー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208776" y="4800600"/>
            <a:ext cx="1658112" cy="777240"/>
          </a:xfrm>
          <a:prstGeom prst="roundRect">
            <a:avLst>
              <a:gd name="adj" fmla="val 7059"/>
            </a:avLst>
          </a:prstGeom>
          <a:solidFill>
            <a:srgbClr val="F6F7F9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81928" y="4800600"/>
            <a:ext cx="15118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採用 → 既存採用サイトへリンク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095488" y="4800600"/>
            <a:ext cx="1658112" cy="777240"/>
          </a:xfrm>
          <a:prstGeom prst="roundRect">
            <a:avLst>
              <a:gd name="adj" fmla="val 7059"/>
            </a:avLst>
          </a:prstGeom>
          <a:solidFill>
            <a:srgbClr val="F6F7F9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68640" y="4800600"/>
            <a:ext cx="15118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お問い合わせ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9982200" y="4800600"/>
            <a:ext cx="1658112" cy="777240"/>
          </a:xfrm>
          <a:prstGeom prst="roundRect">
            <a:avLst>
              <a:gd name="adj" fmla="val 7059"/>
            </a:avLst>
          </a:prstGeom>
          <a:solidFill>
            <a:srgbClr val="F6F7F9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055352" y="4800600"/>
            <a:ext cx="15118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言語切替（英語・繁体字）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48640" y="576072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採用は既存リクルートサイトを活かしてリンク接続。将来のリニューアルはPhase2以降でご相談可能です。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0F2A5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060E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 ｜ 体験① メンテナンスの可視化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目に見えない“整備の実力”を、証拠にする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症状から相談 → 診断 → オーバーホール → 再稼働まで、Before/Afterで実証します。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株式会社TOE ｜ 清水産業株式会社 様 ご提案 ｜ 2026年6月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2430018" cy="1051560"/>
          </a:xfrm>
          <a:prstGeom prst="roundRect">
            <a:avLst>
              <a:gd name="adj" fmla="val 5217"/>
            </a:avLst>
          </a:prstGeom>
          <a:solidFill>
            <a:srgbClr val="EEF3FA"/>
          </a:solidFill>
          <a:ln w="9525">
            <a:solidFill>
              <a:srgbClr val="C9D9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81051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60E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" y="1828800"/>
            <a:ext cx="221056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症状を選ぶ</a:t>
            </a:r>
            <a:endParaRPr lang="en-US" sz="11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（異音／発熱／漏れ）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024378" y="1737360"/>
            <a:ext cx="365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B8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435858" y="1737360"/>
            <a:ext cx="2430018" cy="1051560"/>
          </a:xfrm>
          <a:prstGeom prst="roundRect">
            <a:avLst>
              <a:gd name="adj" fmla="val 5217"/>
            </a:avLst>
          </a:prstGeom>
          <a:solidFill>
            <a:srgbClr val="EEF3FA"/>
          </a:solidFill>
          <a:ln w="9525">
            <a:solidFill>
              <a:srgbClr val="C9D9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45586" y="181051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60E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45586" y="1828800"/>
            <a:ext cx="221056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型番・写真を</a:t>
            </a:r>
            <a:endParaRPr lang="en-US" sz="11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アップロード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911596" y="1737360"/>
            <a:ext cx="365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B8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323076" y="1737360"/>
            <a:ext cx="2430018" cy="1051560"/>
          </a:xfrm>
          <a:prstGeom prst="roundRect">
            <a:avLst>
              <a:gd name="adj" fmla="val 5217"/>
            </a:avLst>
          </a:prstGeom>
          <a:solidFill>
            <a:srgbClr val="EEF3FA"/>
          </a:solidFill>
          <a:ln w="9525">
            <a:solidFill>
              <a:srgbClr val="C9D9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32804" y="181051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60E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32804" y="1828800"/>
            <a:ext cx="221056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整備士が</a:t>
            </a:r>
            <a:endParaRPr lang="en-US" sz="11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診断・見積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798814" y="1737360"/>
            <a:ext cx="365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B8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210294" y="1737360"/>
            <a:ext cx="2430018" cy="1051560"/>
          </a:xfrm>
          <a:prstGeom prst="roundRect">
            <a:avLst>
              <a:gd name="adj" fmla="val 5217"/>
            </a:avLst>
          </a:prstGeom>
          <a:solidFill>
            <a:srgbClr val="EEF3FA"/>
          </a:solidFill>
          <a:ln w="9525">
            <a:solidFill>
              <a:srgbClr val="C9D9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0022" y="181051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60E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320022" y="1828800"/>
            <a:ext cx="221056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オーバーホール</a:t>
            </a:r>
            <a:endParaRPr lang="en-US" sz="11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再稼働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3108960"/>
            <a:ext cx="3514344" cy="1554480"/>
          </a:xfrm>
          <a:prstGeom prst="roundRect">
            <a:avLst>
              <a:gd name="adj" fmla="val 3529"/>
            </a:avLst>
          </a:prstGeom>
          <a:solidFill>
            <a:srgbClr val="EEF3FA"/>
          </a:solidFill>
          <a:ln w="9525">
            <a:solidFill>
              <a:srgbClr val="D7E2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3246120"/>
            <a:ext cx="3148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メーカー問わず対応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31520" y="3767328"/>
            <a:ext cx="31485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特定ブランドに縛られず、ポンプ・モーター・コンプレッサー等の回転機械を幅広く整備。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37304" y="3108960"/>
            <a:ext cx="3514344" cy="1554480"/>
          </a:xfrm>
          <a:prstGeom prst="roundRect">
            <a:avLst>
              <a:gd name="adj" fmla="val 3529"/>
            </a:avLst>
          </a:prstGeom>
          <a:solidFill>
            <a:srgbClr val="EEF3FA"/>
          </a:solidFill>
          <a:ln w="9525">
            <a:solidFill>
              <a:srgbClr val="D7E2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20184" y="3246120"/>
            <a:ext cx="3148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分解整備の“見える化”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20184" y="3767328"/>
            <a:ext cx="31485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分解→洗浄→部品交換→再組立を、Before/After写真で実証。カタログに無い説得力。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25968" y="3108960"/>
            <a:ext cx="3514344" cy="1554480"/>
          </a:xfrm>
          <a:prstGeom prst="roundRect">
            <a:avLst>
              <a:gd name="adj" fmla="val 3529"/>
            </a:avLst>
          </a:prstGeom>
          <a:solidFill>
            <a:srgbClr val="EEF3FA"/>
          </a:solidFill>
          <a:ln w="9525">
            <a:solidFill>
              <a:srgbClr val="D7E2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08848" y="3246120"/>
            <a:ext cx="3148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整備事例ページが“営業”になる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8308848" y="3767328"/>
            <a:ext cx="31485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「どんな故障を、どう直したか」を蓄積。同じ悩みの人が検索で見つけ、相談につながる。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4983480"/>
            <a:ext cx="11091672" cy="1143000"/>
          </a:xfrm>
          <a:prstGeom prst="roundRect">
            <a:avLst>
              <a:gd name="adj" fmla="val 4800"/>
            </a:avLst>
          </a:prstGeom>
          <a:solidFill>
            <a:srgbClr val="0F2A52"/>
          </a:solidFill>
          <a:ln/>
        </p:spPr>
      </p:sp>
      <p:sp>
        <p:nvSpPr>
          <p:cNvPr id="33" name="Text 31"/>
          <p:cNvSpPr/>
          <p:nvPr/>
        </p:nvSpPr>
        <p:spPr>
          <a:xfrm>
            <a:off x="868680" y="50749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B8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1,892万円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868680" y="56235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6E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製造業の突発停止による年間平均損失（1社あたり）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480560" y="4983480"/>
            <a:ext cx="688543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「止めない・また動かす」価値を数字で語り、メンテの引き合いを生むページ群に。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48640" y="617220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出典：八千代ソリューションズ 突発停止損失調査（500社）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0F2A5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060E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 ｜ 体験② ご提案の目玉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「修理済在庫品」を、即納カタログに変える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現サイトで空欄のままのページが、御社にしか出せない最大の武器になります。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株式会社TOE ｜ 清水産業株式会社 様 ご提案 ｜ 2026年6月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2430018" cy="1097280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9525">
            <a:solidFill>
              <a:srgbClr val="C9D9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737360"/>
            <a:ext cx="221056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ポンプ・モーター</a:t>
            </a: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が止まった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024378" y="173736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B8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435858" y="1737360"/>
            <a:ext cx="2430018" cy="1097280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9525">
            <a:solidFill>
              <a:srgbClr val="C9D9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45586" y="1737360"/>
            <a:ext cx="221056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在庫を型番・症状</a:t>
            </a: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で検索（AI補助）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911596" y="173736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B8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323076" y="1737360"/>
            <a:ext cx="2430018" cy="1097280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9525">
            <a:solidFill>
              <a:srgbClr val="C9D9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2804" y="1737360"/>
            <a:ext cx="221056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整備可否＋即納可</a:t>
            </a: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をその場で回答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798814" y="173736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B8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210294" y="1737360"/>
            <a:ext cx="2430018" cy="1097280"/>
          </a:xfrm>
          <a:prstGeom prst="roundRect">
            <a:avLst>
              <a:gd name="adj" fmla="val 5000"/>
            </a:avLst>
          </a:prstGeom>
          <a:solidFill>
            <a:srgbClr val="FFF7E0"/>
          </a:solidFill>
          <a:ln w="9525">
            <a:solidFill>
              <a:srgbClr val="F5B8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0022" y="1737360"/>
            <a:ext cx="221056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交換機を即出荷</a:t>
            </a: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外した機械は整備へ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154680"/>
            <a:ext cx="5408676" cy="1691640"/>
          </a:xfrm>
          <a:prstGeom prst="roundRect">
            <a:avLst>
              <a:gd name="adj" fmla="val 3243"/>
            </a:avLst>
          </a:prstGeom>
          <a:solidFill>
            <a:srgbClr val="FBF1F0"/>
          </a:solidFill>
          <a:ln w="9525">
            <a:solidFill>
              <a:srgbClr val="E5C3B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2918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039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いま（在庫が見えない）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31520" y="3703320"/>
            <a:ext cx="504291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在庫一覧ページは“メーカー名―／型番―”の空テンプレのまま。どんな在庫があるか客には分からず、電話で都度確認。夜間・休日は受けられず、止まったお客を取りこぼす。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31636" y="3154680"/>
            <a:ext cx="5408676" cy="1691640"/>
          </a:xfrm>
          <a:prstGeom prst="roundRect">
            <a:avLst>
              <a:gd name="adj" fmla="val 3243"/>
            </a:avLst>
          </a:prstGeom>
          <a:solidFill>
            <a:srgbClr val="EAF6F0"/>
          </a:solidFill>
          <a:ln w="9525">
            <a:solidFill>
              <a:srgbClr val="BCDCC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14516" y="32918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8E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これから（即納在庫が見える）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414516" y="3703320"/>
            <a:ext cx="504291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即納できる整備済機をWebで公開。機種・メーカー・能力で検索でき、24時間取りこぼさない。「在庫、あります」をサイトで言い切り、“止めない会社”を証明する。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5120640"/>
            <a:ext cx="11091672" cy="960120"/>
          </a:xfrm>
          <a:prstGeom prst="roundRect">
            <a:avLst>
              <a:gd name="adj" fmla="val 5714"/>
            </a:avLst>
          </a:prstGeom>
          <a:solidFill>
            <a:srgbClr val="0F2A52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120640"/>
            <a:ext cx="1054303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なぜ清水産業だけができるのか ── 整備力 × 即納在庫 × 検索・AI の3点を同時に持つ会社は他にありません。メーカー特約店にも、街の修理屋にも、ネット通販にも真似できない武器です。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0F2A5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060E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 ｜ 体験③ TOEのAI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AIが、相談のハードルを下げる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深夜でも、海外からでも。AIがまず受けて、必要なら整備士へつなぎます。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株式会社TOE ｜ 清水産業株式会社 様 ご提案 ｜ 2026年6月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3514344" cy="2240280"/>
          </a:xfrm>
          <a:prstGeom prst="roundRect">
            <a:avLst>
              <a:gd name="adj" fmla="val 2449"/>
            </a:avLst>
          </a:prstGeom>
          <a:solidFill>
            <a:srgbClr val="EEF3FA"/>
          </a:solidFill>
          <a:ln w="9525">
            <a:solidFill>
              <a:srgbClr val="D7E2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48584" y="1847088"/>
            <a:ext cx="731520" cy="292608"/>
          </a:xfrm>
          <a:prstGeom prst="roundRect">
            <a:avLst>
              <a:gd name="adj" fmla="val 18750"/>
            </a:avLst>
          </a:prstGeom>
          <a:solidFill>
            <a:srgbClr val="F5B800"/>
          </a:solidFill>
          <a:ln/>
        </p:spPr>
      </p:sp>
      <p:sp>
        <p:nvSpPr>
          <p:cNvPr id="10" name="Text 8"/>
          <p:cNvSpPr/>
          <p:nvPr/>
        </p:nvSpPr>
        <p:spPr>
          <a:xfrm>
            <a:off x="3148584" y="1847088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目玉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1874520"/>
            <a:ext cx="25085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0F2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 24時間 一次受付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31520" y="2560320"/>
            <a:ext cx="314858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深夜・休日もAIが症状を聞き取り、緊急修理・見積・在庫照会へ自動で振り分け。電話に出られない時間も取りこぼさない。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37304" y="1737360"/>
            <a:ext cx="3514344" cy="2240280"/>
          </a:xfrm>
          <a:prstGeom prst="roundRect">
            <a:avLst>
              <a:gd name="adj" fmla="val 2449"/>
            </a:avLst>
          </a:prstGeom>
          <a:solidFill>
            <a:srgbClr val="EEF3FA"/>
          </a:solidFill>
          <a:ln w="9525">
            <a:solidFill>
              <a:srgbClr val="D7E2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37248" y="1847088"/>
            <a:ext cx="731520" cy="292608"/>
          </a:xfrm>
          <a:prstGeom prst="roundRect">
            <a:avLst>
              <a:gd name="adj" fmla="val 18750"/>
            </a:avLst>
          </a:prstGeom>
          <a:solidFill>
            <a:srgbClr val="F5B800"/>
          </a:solidFill>
          <a:ln/>
        </p:spPr>
      </p:sp>
      <p:sp>
        <p:nvSpPr>
          <p:cNvPr id="15" name="Text 13"/>
          <p:cNvSpPr/>
          <p:nvPr/>
        </p:nvSpPr>
        <p:spPr>
          <a:xfrm>
            <a:off x="6937248" y="1847088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目玉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20184" y="1874520"/>
            <a:ext cx="25085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0F2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 部品・在庫特定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520184" y="2560320"/>
            <a:ext cx="314858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型番や症状、銘板の写真から、即納在庫や後継・代替機の当たりをAIが提示。「型番が分からない」相談にも応えられる。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25968" y="1737360"/>
            <a:ext cx="3514344" cy="2240280"/>
          </a:xfrm>
          <a:prstGeom prst="roundRect">
            <a:avLst>
              <a:gd name="adj" fmla="val 2449"/>
            </a:avLst>
          </a:prstGeom>
          <a:solidFill>
            <a:srgbClr val="EEF3FA"/>
          </a:solidFill>
          <a:ln w="9525">
            <a:solidFill>
              <a:srgbClr val="D7E2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08848" y="1874520"/>
            <a:ext cx="25085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0F2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 多言語一次対応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308848" y="2560320"/>
            <a:ext cx="314858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英語・繁体字の問い合わせもAIが一次対応。海外・外資系工場からの引き合いに備える。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206240"/>
            <a:ext cx="6766560" cy="1828800"/>
          </a:xfrm>
          <a:prstGeom prst="roundRect">
            <a:avLst>
              <a:gd name="adj" fmla="val 3000"/>
            </a:avLst>
          </a:prstGeom>
          <a:solidFill>
            <a:srgbClr val="F6F7F9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31596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安心して任せられるAI設計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31520" y="4681728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・御社専用環境で処理し、入力内容を学習に使わせない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・AIは候補提示まで。見積・最終判断は必ず整備士が行う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・分からないことは「分からない」と正直に答えさせる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・チャット受付 → 部品特定 → 多言語、と段階導入で無理なく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589520" y="4206240"/>
            <a:ext cx="4050792" cy="1828800"/>
          </a:xfrm>
          <a:prstGeom prst="roundRect">
            <a:avLst>
              <a:gd name="adj" fmla="val 3000"/>
            </a:avLst>
          </a:prstGeom>
          <a:solidFill>
            <a:srgbClr val="0F2A52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0" y="431596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B8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なぜTOEか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772400" y="4681728"/>
            <a:ext cx="368503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製造業AI「YAI」・介護記録AI「CARE VOICE」を実運用まで作り切った実績。デモで終わらせず、御社の業務に本当に使えるAIを実装します。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0F2A5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060E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 ｜ 多言語対応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英語・繁体字（台湾）を、サイト内で正しく表示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Google翻訳まかせをやめて、海外からの引き合いを受け止める体制に。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株式会社TOE ｜ 清水産業株式会社 様 ご提案 ｜ 2026年6月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6766560" cy="2377440"/>
          </a:xfrm>
          <a:prstGeom prst="roundRect">
            <a:avLst>
              <a:gd name="adj" fmla="val 2308"/>
            </a:avLst>
          </a:prstGeom>
          <a:solidFill>
            <a:srgbClr val="EEF3FA"/>
          </a:solidFill>
          <a:ln w="9525">
            <a:solidFill>
              <a:srgbClr val="D7E2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745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Weglot による自動多言語化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233172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・タグを1つ埋め込むだけで、英語・繁体字を自動展開</a:t>
            </a: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・日本語の本体を更新すれば、外国語ページも自動で追従</a:t>
            </a: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・AI自動翻訳＋Web上で人手修正。公開前にネイティブチェック</a:t>
            </a: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・初期費用 ¥0 ／ 月額 ¥7,500〜（プランにより変動）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589520" y="1737360"/>
            <a:ext cx="4050792" cy="2377440"/>
          </a:xfrm>
          <a:prstGeom prst="roundRect">
            <a:avLst>
              <a:gd name="adj" fmla="val 2308"/>
            </a:avLst>
          </a:prstGeom>
          <a:solidFill>
            <a:srgbClr val="EEF3FA"/>
          </a:solidFill>
          <a:ln w="9525">
            <a:solidFill>
              <a:srgbClr val="C9D9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0" y="1874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対応言語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0" y="2240280"/>
            <a:ext cx="36850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英語（EN）／ 繁体字中国語（台湾）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0" y="2697480"/>
            <a:ext cx="368503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専門用語（機種名・部品名）は用語集で固定し、取り違えを防ぎます。必要に応じて言語の追加も可能です。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434840"/>
            <a:ext cx="11091672" cy="1554480"/>
          </a:xfrm>
          <a:prstGeom prst="roundRect">
            <a:avLst>
              <a:gd name="adj" fmla="val 3529"/>
            </a:avLst>
          </a:prstGeom>
          <a:solidFill>
            <a:srgbClr val="FFF7E0"/>
          </a:solidFill>
          <a:ln w="12700">
            <a:solidFill>
              <a:srgbClr val="F5B8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572000"/>
            <a:ext cx="106344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多言語 × AI受付 × 海外専用フォーム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4983480"/>
            <a:ext cx="106344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ページを翻訳するだけでなく、問い合わせの受け皿（海外専用フォーム＋AIの英語・繁体字一次対応）までセットで設計。OEM・装置設計は海外引き合いが伸びる領域です。台湾・アジア商社からの相談を、取りこぼさず日本語に整えて御社へ届けます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0F2A5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060E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 ｜ デザインと撮影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“プロの現場”が伝わるデザインと写真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デザインの土台は撮影。現場のリアルでしか伝わらない信頼があります。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株式会社TOE ｜ 清水産業株式会社 様 ご提案 ｜ 2026年6月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3514344" cy="1188720"/>
          </a:xfrm>
          <a:prstGeom prst="roundRect">
            <a:avLst>
              <a:gd name="adj" fmla="val 4615"/>
            </a:avLst>
          </a:prstGeom>
          <a:solidFill>
            <a:srgbClr val="EEF3FA"/>
          </a:solidFill>
          <a:ln w="9525">
            <a:solidFill>
              <a:srgbClr val="C9D9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28800"/>
            <a:ext cx="3148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配色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31520" y="2194560"/>
            <a:ext cx="31485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インダストリアル・ブルー基調。重厚な信頼感と“現場の即応”を両立。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37304" y="1737360"/>
            <a:ext cx="3514344" cy="1188720"/>
          </a:xfrm>
          <a:prstGeom prst="roundRect">
            <a:avLst>
              <a:gd name="adj" fmla="val 4615"/>
            </a:avLst>
          </a:prstGeom>
          <a:solidFill>
            <a:srgbClr val="EEF3FA"/>
          </a:solidFill>
          <a:ln w="9525">
            <a:solidFill>
              <a:srgbClr val="C9D9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0184" y="1828800"/>
            <a:ext cx="3148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写真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20184" y="2194560"/>
            <a:ext cx="31485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機械の質感・整備士の手元まで伝わる、作り物でないリアル。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25968" y="1737360"/>
            <a:ext cx="3514344" cy="1188720"/>
          </a:xfrm>
          <a:prstGeom prst="roundRect">
            <a:avLst>
              <a:gd name="adj" fmla="val 4615"/>
            </a:avLst>
          </a:prstGeom>
          <a:solidFill>
            <a:srgbClr val="EEF3FA"/>
          </a:solidFill>
          <a:ln w="9525">
            <a:solidFill>
              <a:srgbClr val="C9D9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08848" y="1828800"/>
            <a:ext cx="3148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言葉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308848" y="2194560"/>
            <a:ext cx="31485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専門用語に逃げず、「止まった」「また動く」で語る平易さ。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15468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撮影プラン（1日完結・TOEプロデュース・お見積に込み）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48640" y="3611880"/>
            <a:ext cx="3544824" cy="932688"/>
          </a:xfrm>
          <a:prstGeom prst="roundRect">
            <a:avLst>
              <a:gd name="adj" fmla="val 5882"/>
            </a:avLst>
          </a:prstGeom>
          <a:solidFill>
            <a:srgbClr val="F6F7F9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3685032"/>
            <a:ext cx="3215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現場の人物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13232" y="4005072"/>
            <a:ext cx="3215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整備士・配管職人の手元と横顔。事業ページ＋信頼の核に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22064" y="3611880"/>
            <a:ext cx="3544824" cy="932688"/>
          </a:xfrm>
          <a:prstGeom prst="roundRect">
            <a:avLst>
              <a:gd name="adj" fmla="val 5882"/>
            </a:avLst>
          </a:prstGeom>
          <a:solidFill>
            <a:srgbClr val="F6F7F9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6656" y="3685032"/>
            <a:ext cx="3215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ビフォーアフター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486656" y="4005072"/>
            <a:ext cx="3215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整備前後の対比。実績ページの説得材料に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95488" y="3611880"/>
            <a:ext cx="3544824" cy="932688"/>
          </a:xfrm>
          <a:prstGeom prst="roundRect">
            <a:avLst>
              <a:gd name="adj" fmla="val 5882"/>
            </a:avLst>
          </a:prstGeom>
          <a:solidFill>
            <a:srgbClr val="F6F7F9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60080" y="3685032"/>
            <a:ext cx="3215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工場・倉庫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260080" y="4005072"/>
            <a:ext cx="3215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設備・在庫の規模が伝わる広角。商社・在庫ページの根拠に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4690872"/>
            <a:ext cx="3544824" cy="932688"/>
          </a:xfrm>
          <a:prstGeom prst="roundRect">
            <a:avLst>
              <a:gd name="adj" fmla="val 5882"/>
            </a:avLst>
          </a:prstGeom>
          <a:solidFill>
            <a:srgbClr val="F6F7F9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3232" y="4764024"/>
            <a:ext cx="3215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対応機器・部品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13232" y="5084064"/>
            <a:ext cx="3215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取扱品・OEM製品。対応範囲の広さを可視化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322064" y="4690872"/>
            <a:ext cx="3544824" cy="932688"/>
          </a:xfrm>
          <a:prstGeom prst="roundRect">
            <a:avLst>
              <a:gd name="adj" fmla="val 5882"/>
            </a:avLst>
          </a:prstGeom>
          <a:solidFill>
            <a:srgbClr val="F6F7F9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86656" y="4764024"/>
            <a:ext cx="3215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経営層・若手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486656" y="5084064"/>
            <a:ext cx="3215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代表・現場リーダーのポートレート。会社紹介に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095488" y="4690872"/>
            <a:ext cx="3544824" cy="932688"/>
          </a:xfrm>
          <a:prstGeom prst="roundRect">
            <a:avLst>
              <a:gd name="adj" fmla="val 5882"/>
            </a:avLst>
          </a:prstGeom>
          <a:solidFill>
            <a:srgbClr val="F6F7F9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60080" y="4764024"/>
            <a:ext cx="3215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外観・全景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260080" y="5084064"/>
            <a:ext cx="3215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本社・拠点の俯瞰。トップのヒーロー画像候補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48640" y="585216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撮影しないと「メーカー品を売っているだけの会社」に見えてしまう。現場・人・設備は、写真でしか伝えられません。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0F2A5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060E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 ｜ 制作体制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少人数だから、速い・伝わる・無駄がない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TOE 2名＋必要時パートナー。中間マージンゼロを体制で担保します。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株式会社TOE ｜ 清水産業株式会社 様 ご提案 ｜ 2026年6月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77440" y="1737360"/>
            <a:ext cx="7434072" cy="594360"/>
          </a:xfrm>
          <a:prstGeom prst="roundRect">
            <a:avLst>
              <a:gd name="adj" fmla="val 9231"/>
            </a:avLst>
          </a:prstGeom>
          <a:solidFill>
            <a:srgbClr val="EEF3FA"/>
          </a:solidFill>
          <a:ln w="9525">
            <a:solidFill>
              <a:srgbClr val="C9D9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0" y="1737360"/>
            <a:ext cx="74340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2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清水産業株式会社 様（ご担当者様＋経営層）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595878" y="2331720"/>
            <a:ext cx="0" cy="27432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80160" y="2606040"/>
            <a:ext cx="4631436" cy="1371600"/>
          </a:xfrm>
          <a:prstGeom prst="roundRect">
            <a:avLst>
              <a:gd name="adj" fmla="val 4000"/>
            </a:avLst>
          </a:prstGeom>
          <a:solidFill>
            <a:srgbClr val="EEF3FA"/>
          </a:solidFill>
          <a:ln w="9525">
            <a:solidFill>
              <a:srgbClr val="C9D9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040" y="2724912"/>
            <a:ext cx="42656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プロデューサー／ディレクター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463040" y="3154680"/>
            <a:ext cx="42656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顧客窓口、要件定義、デザイン・コピー監修、進行管理、納品まで一気通貫。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593074" y="2331720"/>
            <a:ext cx="0" cy="27432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7356" y="2606040"/>
            <a:ext cx="4631436" cy="1371600"/>
          </a:xfrm>
          <a:prstGeom prst="roundRect">
            <a:avLst>
              <a:gd name="adj" fmla="val 4000"/>
            </a:avLst>
          </a:prstGeom>
          <a:solidFill>
            <a:srgbClr val="EEF3FA"/>
          </a:solidFill>
          <a:ln w="9525">
            <a:solidFill>
              <a:srgbClr val="C9D9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60236" y="2724912"/>
            <a:ext cx="42656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実装リード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60236" y="3154680"/>
            <a:ext cx="42656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サイト構築、CMS設計、AI・多言語連携、QA・公開作業、保守運用基盤の整備。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41605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TOE（2名）＋ 必要時パートナー（TOEがディレクション・品質管理）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572000"/>
            <a:ext cx="3514344" cy="548640"/>
          </a:xfrm>
          <a:prstGeom prst="roundRect">
            <a:avLst>
              <a:gd name="adj" fmla="val 10000"/>
            </a:avLst>
          </a:prstGeom>
          <a:solidFill>
            <a:srgbClr val="F6F7F9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572000"/>
            <a:ext cx="35143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撮影カメラマン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37304" y="4572000"/>
            <a:ext cx="3514344" cy="548640"/>
          </a:xfrm>
          <a:prstGeom prst="roundRect">
            <a:avLst>
              <a:gd name="adj" fmla="val 10000"/>
            </a:avLst>
          </a:prstGeom>
          <a:solidFill>
            <a:srgbClr val="F6F7F9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37304" y="4572000"/>
            <a:ext cx="35143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翻訳ネイティブチェック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125968" y="4572000"/>
            <a:ext cx="3514344" cy="548640"/>
          </a:xfrm>
          <a:prstGeom prst="roundRect">
            <a:avLst>
              <a:gd name="adj" fmla="val 10000"/>
            </a:avLst>
          </a:prstGeom>
          <a:solidFill>
            <a:srgbClr val="F6F7F9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25968" y="4572000"/>
            <a:ext cx="35143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ライター（必要時）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5349240"/>
            <a:ext cx="11091672" cy="731520"/>
          </a:xfrm>
          <a:prstGeom prst="roundRect">
            <a:avLst>
              <a:gd name="adj" fmla="val 7500"/>
            </a:avLst>
          </a:prstGeom>
          <a:solidFill>
            <a:srgbClr val="0F2A52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349240"/>
            <a:ext cx="106344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中間マージンゼロ　② 決裁者直結で判断が速い　③ 伝言ゲームなしで品質劣化なし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0F2A5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060E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 ｜ スケジュール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今年つくり、来年さらに伸ばす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2026年内に新サイトを公開し、2027年はAI・在庫検索で“集まるサイト”に育てます。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株式会社TOE ｜ 清水産業株式会社 様 ご提案 ｜ 2026年6月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2035454" cy="502920"/>
          </a:xfrm>
          <a:prstGeom prst="roundRect">
            <a:avLst>
              <a:gd name="adj" fmla="val 10909"/>
            </a:avLst>
          </a:prstGeom>
          <a:solidFill>
            <a:srgbClr val="0F2A5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783080"/>
            <a:ext cx="203545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2026年7月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395728"/>
            <a:ext cx="2035454" cy="2286000"/>
          </a:xfrm>
          <a:prstGeom prst="roundRect">
            <a:avLst>
              <a:gd name="adj" fmla="val 2695"/>
            </a:avLst>
          </a:prstGeom>
          <a:solidFill>
            <a:srgbClr val="EEF3FA"/>
          </a:solidFill>
          <a:ln w="9525">
            <a:solidFill>
              <a:srgbClr val="D7E2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514600"/>
            <a:ext cx="176113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キックオフ・要件定義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3154680"/>
            <a:ext cx="176113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ヒアリング／現サイト・競合分析／サイト構成・要件の確定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812694" y="1783080"/>
            <a:ext cx="2035454" cy="502920"/>
          </a:xfrm>
          <a:prstGeom prst="roundRect">
            <a:avLst>
              <a:gd name="adj" fmla="val 10909"/>
            </a:avLst>
          </a:prstGeom>
          <a:solidFill>
            <a:srgbClr val="0F2A52"/>
          </a:solidFill>
          <a:ln/>
        </p:spPr>
      </p:sp>
      <p:sp>
        <p:nvSpPr>
          <p:cNvPr id="14" name="Text 12"/>
          <p:cNvSpPr/>
          <p:nvPr/>
        </p:nvSpPr>
        <p:spPr>
          <a:xfrm>
            <a:off x="2812694" y="1783080"/>
            <a:ext cx="203545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8〜9月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812694" y="2395728"/>
            <a:ext cx="2035454" cy="2286000"/>
          </a:xfrm>
          <a:prstGeom prst="roundRect">
            <a:avLst>
              <a:gd name="adj" fmla="val 2695"/>
            </a:avLst>
          </a:prstGeom>
          <a:solidFill>
            <a:srgbClr val="EEF3FA"/>
          </a:solidFill>
          <a:ln w="9525">
            <a:solidFill>
              <a:srgbClr val="D7E2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49854" y="2514600"/>
            <a:ext cx="176113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設計・デザイン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949854" y="3154680"/>
            <a:ext cx="176113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ワイヤーフレーム／デザイン制作／撮影（1日）／原稿整理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76749" y="1783080"/>
            <a:ext cx="2035454" cy="502920"/>
          </a:xfrm>
          <a:prstGeom prst="roundRect">
            <a:avLst>
              <a:gd name="adj" fmla="val 10909"/>
            </a:avLst>
          </a:prstGeom>
          <a:solidFill>
            <a:srgbClr val="0F2A52"/>
          </a:solidFill>
          <a:ln/>
        </p:spPr>
      </p:sp>
      <p:sp>
        <p:nvSpPr>
          <p:cNvPr id="19" name="Text 17"/>
          <p:cNvSpPr/>
          <p:nvPr/>
        </p:nvSpPr>
        <p:spPr>
          <a:xfrm>
            <a:off x="5076749" y="1783080"/>
            <a:ext cx="203545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10〜11月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076749" y="2395728"/>
            <a:ext cx="2035454" cy="2286000"/>
          </a:xfrm>
          <a:prstGeom prst="roundRect">
            <a:avLst>
              <a:gd name="adj" fmla="val 2695"/>
            </a:avLst>
          </a:prstGeom>
          <a:solidFill>
            <a:srgbClr val="EEF3FA"/>
          </a:solidFill>
          <a:ln w="9525">
            <a:solidFill>
              <a:srgbClr val="D7E2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3909" y="2514600"/>
            <a:ext cx="176113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実装・多言語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13909" y="3154680"/>
            <a:ext cx="176113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CMS構築・コーディング／常時SSL化／英語・繁体字展開／テスト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340803" y="1783080"/>
            <a:ext cx="2035454" cy="502920"/>
          </a:xfrm>
          <a:prstGeom prst="roundRect">
            <a:avLst>
              <a:gd name="adj" fmla="val 10909"/>
            </a:avLst>
          </a:prstGeom>
          <a:solidFill>
            <a:srgbClr val="0F2A52"/>
          </a:solidFill>
          <a:ln/>
        </p:spPr>
      </p:sp>
      <p:sp>
        <p:nvSpPr>
          <p:cNvPr id="24" name="Text 22"/>
          <p:cNvSpPr/>
          <p:nvPr/>
        </p:nvSpPr>
        <p:spPr>
          <a:xfrm>
            <a:off x="7340803" y="1783080"/>
            <a:ext cx="203545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12月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340803" y="2395728"/>
            <a:ext cx="2035454" cy="2286000"/>
          </a:xfrm>
          <a:prstGeom prst="roundRect">
            <a:avLst>
              <a:gd name="adj" fmla="val 2695"/>
            </a:avLst>
          </a:prstGeom>
          <a:solidFill>
            <a:srgbClr val="FFF7E0"/>
          </a:solidFill>
          <a:ln w="9525">
            <a:solidFill>
              <a:srgbClr val="D7E2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77963" y="2514600"/>
            <a:ext cx="176113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公開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477963" y="3154680"/>
            <a:ext cx="176113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最終確認・公開作業／SEO・計測初期設定／運用レクチャー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604858" y="1783080"/>
            <a:ext cx="2035454" cy="502920"/>
          </a:xfrm>
          <a:prstGeom prst="roundRect">
            <a:avLst>
              <a:gd name="adj" fmla="val 10909"/>
            </a:avLst>
          </a:prstGeom>
          <a:solidFill>
            <a:srgbClr val="1E8E5A"/>
          </a:solidFill>
          <a:ln/>
        </p:spPr>
      </p:sp>
      <p:sp>
        <p:nvSpPr>
          <p:cNvPr id="29" name="Text 27"/>
          <p:cNvSpPr/>
          <p:nvPr/>
        </p:nvSpPr>
        <p:spPr>
          <a:xfrm>
            <a:off x="9604858" y="1783080"/>
            <a:ext cx="203545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2027年〜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9604858" y="2395728"/>
            <a:ext cx="2035454" cy="2286000"/>
          </a:xfrm>
          <a:prstGeom prst="roundRect">
            <a:avLst>
              <a:gd name="adj" fmla="val 2695"/>
            </a:avLst>
          </a:prstGeom>
          <a:solidFill>
            <a:srgbClr val="EAF6F0"/>
          </a:solidFill>
          <a:ln w="9525">
            <a:solidFill>
              <a:srgbClr val="D7E2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742018" y="2514600"/>
            <a:ext cx="176113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2：育てる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742018" y="3154680"/>
            <a:ext cx="176113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AI一次受付／修理済在庫検索／顧客マイページ／月次レポートで改善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5029200"/>
            <a:ext cx="11091672" cy="1051560"/>
          </a:xfrm>
          <a:prstGeom prst="roundRect">
            <a:avLst>
              <a:gd name="adj" fmla="val 5217"/>
            </a:avLst>
          </a:prstGeom>
          <a:solidFill>
            <a:srgbClr val="0F2A52"/>
          </a:solidFill>
          <a:ln/>
        </p:spPr>
      </p:sp>
      <p:sp>
        <p:nvSpPr>
          <p:cNvPr id="34" name="Text 32"/>
          <p:cNvSpPr/>
          <p:nvPr/>
        </p:nvSpPr>
        <p:spPr>
          <a:xfrm>
            <a:off x="868680" y="513892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B8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年内公開 → 来年強化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4297680" y="5029200"/>
            <a:ext cx="706831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「今年から来年にかけて」のご要望に合わせた二段構え。まず年内に“顔”を一新し、2027年は問い合わせを増やす機能を段階投入。投資を分散しながら、効果を毎月の数字で確認できます。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0F2A5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060E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 ｜ 概算お見積り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撮影費込み・Phase 1 一式 ¥2,900,000（税別）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要件確定後に正式お見積りをご提示します。Phase 2は効果を見ながら段階導入できます。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株式会社TOE ｜ 清水産業株式会社 様 ご提案 ｜ 2026年6月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5605272"/>
                <a:gridCol w="23774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項目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内容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概算金額（税別）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企画・設計・ディレクション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要件定義／サイト構成設計／進行管理・品質管理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¥400,000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デザイン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トップ＋下層テンプレート／スマホ最適化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¥600,000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CMS実装・コーディング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全ページ実装／お知らせ・実績の自社更新機能／常時SSL化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¥1,200,000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写真撮影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1日完結・6カテゴリ（出張費・データ納品込み）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¥180,000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多言語化（英語・繁体字）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Weglot導入設定／用語集整備／ネイティブチェック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¥150,000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SEO・計測・公開作業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構造化データ／GA4・Search Console設定／公開・リダイレクト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¥370,000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Phase 1 合計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撮影費込み・リニューアル一式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¥2,900,000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0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4983480"/>
            <a:ext cx="11091672" cy="457200"/>
          </a:xfrm>
          <a:prstGeom prst="roundRect">
            <a:avLst>
              <a:gd name="adj" fmla="val 12000"/>
            </a:avLst>
          </a:prstGeom>
          <a:solidFill>
            <a:srgbClr val="F6F7F9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4983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保守・運用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3566160" y="4983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サーバー監視／セキュリティ更新／月次レポート（公開後6ヶ月）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144000" y="49834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F2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¥30,000〜/月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48640" y="5495544"/>
            <a:ext cx="11091672" cy="457200"/>
          </a:xfrm>
          <a:prstGeom prst="roundRect">
            <a:avLst>
              <a:gd name="adj" fmla="val 12000"/>
            </a:avLst>
          </a:prstGeom>
          <a:solidFill>
            <a:srgbClr val="F6F7F9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549554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多言語（Weglot）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3566160" y="5495544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英語・繁体字の自動展開・追従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9144000" y="5495544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F2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¥7,500〜/月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6007608"/>
            <a:ext cx="11091672" cy="457200"/>
          </a:xfrm>
          <a:prstGeom prst="roundRect">
            <a:avLst>
              <a:gd name="adj" fmla="val 12000"/>
            </a:avLst>
          </a:prstGeom>
          <a:solidFill>
            <a:srgbClr val="F6F7F9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1520" y="600760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2（2027年〜）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3566160" y="600760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AI一次受付／修理済在庫検索／顧客マイページ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9144000" y="600760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F2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効果を見ながら個別お見積り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0F2A5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060E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 ｜ 公開後の運用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作って終わりにしない。数字で育てる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効果を毎月の数字で確認し、改善を回し続けます。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株式会社TOE ｜ 清水産業株式会社 様 ご提案 ｜ 2026年6月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3514344" cy="1691640"/>
          </a:xfrm>
          <a:prstGeom prst="roundRect">
            <a:avLst>
              <a:gd name="adj" fmla="val 3243"/>
            </a:avLst>
          </a:prstGeom>
          <a:solidFill>
            <a:srgbClr val="EEF3FA"/>
          </a:solidFill>
          <a:ln w="9525">
            <a:solidFill>
              <a:srgbClr val="D7E2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47088"/>
            <a:ext cx="3148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月間問い合わせ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240280"/>
            <a:ext cx="31485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B7280"/>
                </a:solidFill>
              </a:rPr>
              <a:t>10件</a:t>
            </a:r>
            <a:pPr indent="0" marL="0">
              <a:buNone/>
            </a:pPr>
            <a:r>
              <a:rPr lang="en-US" sz="1600" b="1" dirty="0">
                <a:solidFill>
                  <a:srgbClr val="F5B800"/>
                </a:solidFill>
              </a:rPr>
              <a:t>  →  </a:t>
            </a:r>
            <a:pPr indent="0" marL="0">
              <a:buNone/>
            </a:pPr>
            <a:r>
              <a:rPr lang="en-US" sz="2600" b="1" dirty="0">
                <a:solidFill>
                  <a:srgbClr val="0F2A52"/>
                </a:solidFill>
              </a:rPr>
              <a:t>30件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31520" y="2971800"/>
            <a:ext cx="3148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公開12ヶ月後の目標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37304" y="1737360"/>
            <a:ext cx="3514344" cy="1691640"/>
          </a:xfrm>
          <a:prstGeom prst="roundRect">
            <a:avLst>
              <a:gd name="adj" fmla="val 3243"/>
            </a:avLst>
          </a:prstGeom>
          <a:solidFill>
            <a:srgbClr val="EEF3FA"/>
          </a:solidFill>
          <a:ln w="9525">
            <a:solidFill>
              <a:srgbClr val="D7E2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0184" y="1847088"/>
            <a:ext cx="3148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海外問い合わせ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20184" y="2240280"/>
            <a:ext cx="31485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B7280"/>
                </a:solidFill>
              </a:rPr>
              <a:t>0件</a:t>
            </a:r>
            <a:pPr indent="0" marL="0">
              <a:buNone/>
            </a:pPr>
            <a:r>
              <a:rPr lang="en-US" sz="1600" b="1" dirty="0">
                <a:solidFill>
                  <a:srgbClr val="F5B800"/>
                </a:solidFill>
              </a:rPr>
              <a:t>  →  </a:t>
            </a:r>
            <a:pPr indent="0" marL="0">
              <a:buNone/>
            </a:pPr>
            <a:r>
              <a:rPr lang="en-US" sz="2600" b="1" dirty="0">
                <a:solidFill>
                  <a:srgbClr val="0F2A52"/>
                </a:solidFill>
              </a:rPr>
              <a:t>8件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20184" y="2971800"/>
            <a:ext cx="3148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英・繁体字＋専用フォーム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125968" y="1737360"/>
            <a:ext cx="3514344" cy="1691640"/>
          </a:xfrm>
          <a:prstGeom prst="roundRect">
            <a:avLst>
              <a:gd name="adj" fmla="val 3243"/>
            </a:avLst>
          </a:prstGeom>
          <a:solidFill>
            <a:srgbClr val="EEF3FA"/>
          </a:solidFill>
          <a:ln w="9525">
            <a:solidFill>
              <a:srgbClr val="D7E2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08848" y="1847088"/>
            <a:ext cx="3148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平均滞在時間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08848" y="2240280"/>
            <a:ext cx="31485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B7280"/>
                </a:solidFill>
              </a:rPr>
              <a:t>45秒</a:t>
            </a:r>
            <a:pPr indent="0" marL="0">
              <a:buNone/>
            </a:pPr>
            <a:r>
              <a:rPr lang="en-US" sz="1600" b="1" dirty="0">
                <a:solidFill>
                  <a:srgbClr val="F5B800"/>
                </a:solidFill>
              </a:rPr>
              <a:t>  →  </a:t>
            </a:r>
            <a:pPr indent="0" marL="0">
              <a:buNone/>
            </a:pPr>
            <a:r>
              <a:rPr lang="en-US" sz="2600" b="1" dirty="0">
                <a:solidFill>
                  <a:srgbClr val="0F2A52"/>
                </a:solidFill>
              </a:rPr>
              <a:t>2分15秒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308848" y="2971800"/>
            <a:ext cx="3148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構成・導線の改善で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35204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目標値は業界平均CVR・同業改修事例からの試算。公開後の実数で毎月上書きします。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3977640"/>
            <a:ext cx="2567178" cy="1463040"/>
          </a:xfrm>
          <a:prstGeom prst="roundRect">
            <a:avLst>
              <a:gd name="adj" fmla="val 3750"/>
            </a:avLst>
          </a:prstGeom>
          <a:solidFill>
            <a:srgbClr val="F6F7F9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4096512"/>
            <a:ext cx="223799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0F2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GA4＋Search Console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3232" y="4663440"/>
            <a:ext cx="223799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流入経路・検索語・ページ別の成果を月次レビュー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90138" y="3977640"/>
            <a:ext cx="2567178" cy="1463040"/>
          </a:xfrm>
          <a:prstGeom prst="roundRect">
            <a:avLst>
              <a:gd name="adj" fmla="val 3750"/>
            </a:avLst>
          </a:prstGeom>
          <a:solidFill>
            <a:srgbClr val="F6F7F9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54730" y="4096512"/>
            <a:ext cx="223799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0F2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月次レポート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554730" y="4663440"/>
            <a:ext cx="223799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公開後6ヶ月、改善提案を月3項目添えてご報告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31636" y="3977640"/>
            <a:ext cx="2567178" cy="1463040"/>
          </a:xfrm>
          <a:prstGeom prst="roundRect">
            <a:avLst>
              <a:gd name="adj" fmla="val 3750"/>
            </a:avLst>
          </a:prstGeom>
          <a:solidFill>
            <a:srgbClr val="F6F7F9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96228" y="4096512"/>
            <a:ext cx="223799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0F2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自社更新（CMS）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96228" y="4663440"/>
            <a:ext cx="223799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お知らせ・整備事例・在庫情報を月2〜3時間で内製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073134" y="3977640"/>
            <a:ext cx="2567178" cy="1463040"/>
          </a:xfrm>
          <a:prstGeom prst="roundRect">
            <a:avLst>
              <a:gd name="adj" fmla="val 3750"/>
            </a:avLst>
          </a:prstGeom>
          <a:solidFill>
            <a:srgbClr val="F6F7F9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37726" y="4096512"/>
            <a:ext cx="223799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0F2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技術コラム・事例蓄積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237726" y="4663440"/>
            <a:ext cx="223799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「ポンプ 修理 ○○」等の検索流入を育てる資産に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5623560"/>
            <a:ext cx="11091672" cy="640080"/>
          </a:xfrm>
          <a:prstGeom prst="roundRect">
            <a:avLst>
              <a:gd name="adj" fmla="val 8571"/>
            </a:avLst>
          </a:prstGeom>
          <a:solidFill>
            <a:srgbClr val="0F2A52"/>
          </a:solidFill>
          <a:ln/>
        </p:spPr>
      </p:sp>
      <p:sp>
        <p:nvSpPr>
          <p:cNvPr id="34" name="Text 32"/>
          <p:cNvSpPr/>
          <p:nvPr/>
        </p:nvSpPr>
        <p:spPr>
          <a:xfrm>
            <a:off x="777240" y="5623560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サイトは“もう一人の営業”。雇って終わりではなく、毎月育てて成果を出させます。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B8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NEXT STEP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まず、年内公開へ。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3453384" cy="2103120"/>
          </a:xfrm>
          <a:prstGeom prst="roundRect">
            <a:avLst>
              <a:gd name="adj" fmla="val 3478"/>
            </a:avLst>
          </a:prstGeom>
          <a:solidFill>
            <a:srgbClr val="1B3A6B"/>
          </a:solidFill>
          <a:ln w="9525">
            <a:solidFill>
              <a:srgbClr val="3A56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6517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B8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3200400"/>
            <a:ext cx="2996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ご提案内容のご確認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3657600"/>
            <a:ext cx="29961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C9D6E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本企画書と概算見積の方向性をご確認ください。構成・予算の調整も柔軟に承ります。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67784" y="2468880"/>
            <a:ext cx="3453384" cy="2103120"/>
          </a:xfrm>
          <a:prstGeom prst="roundRect">
            <a:avLst>
              <a:gd name="adj" fmla="val 3478"/>
            </a:avLst>
          </a:prstGeom>
          <a:solidFill>
            <a:srgbClr val="1B3A6B"/>
          </a:solidFill>
          <a:ln w="9525">
            <a:solidFill>
              <a:srgbClr val="3A56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6384" y="26517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B8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96384" y="3200400"/>
            <a:ext cx="2996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キックオフ日程の調整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96384" y="3657600"/>
            <a:ext cx="29961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C9D6E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7月中の着手で年内公開に間に合います。お打ち合わせはオンラインでも伺ってでも。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86928" y="2468880"/>
            <a:ext cx="3453384" cy="2103120"/>
          </a:xfrm>
          <a:prstGeom prst="roundRect">
            <a:avLst>
              <a:gd name="adj" fmla="val 3478"/>
            </a:avLst>
          </a:prstGeom>
          <a:solidFill>
            <a:srgbClr val="1B3A6B"/>
          </a:solidFill>
          <a:ln w="9525">
            <a:solidFill>
              <a:srgbClr val="3A56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5528" y="26517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B8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415528" y="3200400"/>
            <a:ext cx="2996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整備事例3件の素材ヒアリング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415528" y="3657600"/>
            <a:ext cx="29961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C9D6E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写真＋ひと言でOK。御社の負担は素材提供と最終確認だけ。実装はTOEが全責任を持ちます。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5120640"/>
            <a:ext cx="11091672" cy="0"/>
          </a:xfrm>
          <a:prstGeom prst="line">
            <a:avLst/>
          </a:prstGeom>
          <a:noFill/>
          <a:ln w="12700">
            <a:solidFill>
              <a:srgbClr val="3A56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534924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株式会社TOE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48640" y="580644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9D6E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Web制作 ／ 業務システム ／ AI開発　｜　IT業界25年・1,000案件（福岡）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9D6E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本社：福岡県福岡市中央区渡辺通1-9-3 一丁目ビル203　｜　joe@gtoe.info　｜　www.gtoe.info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2026-06-11T01:25:53Z</dcterms:created>
  <dcterms:modified xsi:type="dcterms:W3CDTF">2026-06-11T01:25:53Z</dcterms:modified>
</cp:coreProperties>
</file>